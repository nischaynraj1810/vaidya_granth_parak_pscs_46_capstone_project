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68" r:id="rId3"/>
    <p:sldId id="269" r:id="rId4"/>
    <p:sldId id="275" r:id="rId5"/>
    <p:sldId id="283" r:id="rId6"/>
    <p:sldId id="272" r:id="rId7"/>
    <p:sldId id="276" r:id="rId8"/>
    <p:sldId id="284" r:id="rId9"/>
    <p:sldId id="282" r:id="rId10"/>
    <p:sldId id="270" r:id="rId11"/>
    <p:sldId id="278" r:id="rId12"/>
    <p:sldId id="285" r:id="rId13"/>
    <p:sldId id="286" r:id="rId14"/>
    <p:sldId id="280" r:id="rId15"/>
    <p:sldId id="287" r:id="rId1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F378545-AD69-4AA7-97F1-182513D66868}">
  <a:tblStyle styleId="{FF378545-AD69-4AA7-97F1-182513D66868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5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cismindia.org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16/j.evalprogplan.2020.101914" TargetMode="External"/><Relationship Id="rId5" Type="http://schemas.openxmlformats.org/officeDocument/2006/relationships/hyperlink" Target="https://doi.org/10.1007/s10639-019-10066-0" TargetMode="External"/><Relationship Id="rId4" Type="http://schemas.openxmlformats.org/officeDocument/2006/relationships/hyperlink" Target="https://doi.org/10.1016/j.jaim.2022.04.003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09/ACCESS.2021.3124419" TargetMode="External"/><Relationship Id="rId2" Type="http://schemas.openxmlformats.org/officeDocument/2006/relationships/hyperlink" Target="https://doi.org/10.1109/ICALT49669.2020.0009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109/TLT.2018.2873727" TargetMode="External"/><Relationship Id="rId4" Type="http://schemas.openxmlformats.org/officeDocument/2006/relationships/hyperlink" Target="https://doi.org/10.1109/TLT.2021.3059643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449901" y="1082350"/>
            <a:ext cx="11544600" cy="9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400" dirty="0">
                <a:latin typeface="Sitka Small Semibold" pitchFamily="2" charset="0"/>
              </a:rPr>
              <a:t>VGP-AYUSH – Vaidya </a:t>
            </a:r>
            <a:r>
              <a:rPr lang="en-US" sz="2400" dirty="0" err="1">
                <a:latin typeface="Sitka Small Semibold" pitchFamily="2" charset="0"/>
              </a:rPr>
              <a:t>Granth</a:t>
            </a:r>
            <a:r>
              <a:rPr lang="en-US" sz="2400" dirty="0">
                <a:latin typeface="Sitka Small Semibold" pitchFamily="2" charset="0"/>
              </a:rPr>
              <a:t> </a:t>
            </a:r>
            <a:r>
              <a:rPr lang="en-US" sz="2400" dirty="0" err="1">
                <a:latin typeface="Sitka Small Semibold" pitchFamily="2" charset="0"/>
              </a:rPr>
              <a:t>Parakh</a:t>
            </a:r>
            <a:br>
              <a:rPr lang="en-US" sz="2400" i="1" dirty="0">
                <a:latin typeface="Sitka Small Semibold" pitchFamily="2" charset="0"/>
              </a:rPr>
            </a:br>
            <a:r>
              <a:rPr lang="en-US" sz="2400" dirty="0">
                <a:latin typeface="Sitka Small Semibold" pitchFamily="2" charset="0"/>
              </a:rPr>
              <a:t>Expert Review of AYUSH Medical Textbooks.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US" sz="1800" dirty="0">
                <a:latin typeface="Arial"/>
                <a:ea typeface="Arial"/>
                <a:cs typeface="Arial"/>
                <a:sym typeface="Arial"/>
              </a:rPr>
              <a:t>Batch Number: PSCS_46</a:t>
            </a:r>
            <a:endParaRPr sz="18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480195" y="2597640"/>
            <a:ext cx="5514300" cy="20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</a:rPr>
              <a:t>Under the Supervision of,</a:t>
            </a:r>
            <a:endParaRPr sz="18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dirty="0" err="1">
                <a:solidFill>
                  <a:srgbClr val="17365D"/>
                </a:solidFill>
              </a:rPr>
              <a:t>Ms.Rohini</a:t>
            </a:r>
            <a:r>
              <a:rPr lang="en-US" sz="1700" b="1" dirty="0">
                <a:solidFill>
                  <a:srgbClr val="17365D"/>
                </a:solidFill>
              </a:rPr>
              <a:t> A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</a:rPr>
              <a:t>Assistant Professor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</a:rPr>
              <a:t>School of Computer Science and Engineering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US" sz="1700" b="1" i="0" u="none" strike="noStrike" cap="none" dirty="0">
                <a:solidFill>
                  <a:srgbClr val="17365D"/>
                </a:solidFill>
              </a:rPr>
              <a:t>Presidency University</a:t>
            </a:r>
            <a:endParaRPr sz="14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</a:endParaRPr>
          </a:p>
        </p:txBody>
      </p:sp>
      <p:graphicFrame>
        <p:nvGraphicFramePr>
          <p:cNvPr id="90" name="Google Shape;90;p13"/>
          <p:cNvGraphicFramePr/>
          <p:nvPr>
            <p:extLst>
              <p:ext uri="{D42A27DB-BD31-4B8C-83A1-F6EECF244321}">
                <p14:modId xmlns:p14="http://schemas.microsoft.com/office/powerpoint/2010/main" val="1819793328"/>
              </p:ext>
            </p:extLst>
          </p:nvPr>
        </p:nvGraphicFramePr>
        <p:xfrm>
          <a:off x="606797" y="2597640"/>
          <a:ext cx="5418675" cy="1828850"/>
        </p:xfrm>
        <a:graphic>
          <a:graphicData uri="http://schemas.openxmlformats.org/drawingml/2006/table">
            <a:tbl>
              <a:tblPr firstRow="1" bandRow="1">
                <a:noFill/>
                <a:tableStyleId>{FF378545-AD69-4AA7-97F1-182513D66868}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125">
                <a:tc>
                  <a:txBody>
                    <a:bodyPr/>
                    <a:lstStyle/>
                    <a:p>
                      <a:pPr marL="0" marR="0" lvl="1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Roll Number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17365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Student Name</a:t>
                      </a:r>
                      <a:endParaRPr sz="1800" b="1" u="none" strike="noStrike" cap="none">
                        <a:solidFill>
                          <a:srgbClr val="17365D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20221CSE0637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NISCHAY N RAJ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20221CSE0661</a:t>
                      </a:r>
                      <a:endParaRPr sz="1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CHARANYA SRI S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20221CSE0655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ANUSHA D R</a:t>
                      </a: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1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790475" y="136450"/>
            <a:ext cx="106914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</a:rPr>
              <a:t>CSE7101- Capstone Project</a:t>
            </a:r>
            <a:endParaRPr sz="1800" i="0" u="none" strike="noStrike" cap="none" dirty="0">
              <a:solidFill>
                <a:srgbClr val="000000"/>
              </a:solidFill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17365D"/>
                </a:solidFill>
              </a:rPr>
              <a:t>Final Review</a:t>
            </a:r>
            <a:endParaRPr sz="1800" b="1" i="0" u="none" strike="noStrike" cap="none" dirty="0">
              <a:solidFill>
                <a:srgbClr val="17365D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05324" y="4533900"/>
            <a:ext cx="1154460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Program: </a:t>
            </a:r>
            <a:r>
              <a:rPr lang="en-US" sz="1800" b="1" dirty="0">
                <a:solidFill>
                  <a:srgbClr val="17365D"/>
                </a:solidFill>
              </a:rPr>
              <a:t>CSE7101- Capstone Project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</a:t>
            </a:r>
            <a:r>
              <a:rPr lang="en-US" sz="1800" b="1" i="0" u="none" strike="noStrike" cap="none" dirty="0" err="1">
                <a:solidFill>
                  <a:schemeClr val="accent1"/>
                </a:solidFill>
              </a:rPr>
              <a:t>HoD</a:t>
            </a:r>
            <a:r>
              <a:rPr lang="en-US" sz="1800" b="1" i="0" u="none" strike="noStrike" cap="none" dirty="0">
                <a:solidFill>
                  <a:schemeClr val="accent1"/>
                </a:solidFill>
              </a:rPr>
              <a:t>: </a:t>
            </a:r>
            <a:r>
              <a:rPr lang="en-US" sz="1800" b="1" dirty="0">
                <a:solidFill>
                  <a:srgbClr val="FF0000"/>
                </a:solidFill>
              </a:rPr>
              <a:t>Dr. Blessed Prince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</a:rPr>
              <a:t>Mr. </a:t>
            </a:r>
            <a:r>
              <a:rPr lang="en-US" sz="1800" b="1" dirty="0" err="1">
                <a:solidFill>
                  <a:srgbClr val="FF0000"/>
                </a:solidFill>
              </a:rPr>
              <a:t>Muthuraju</a:t>
            </a:r>
            <a:r>
              <a:rPr lang="en-US" sz="1800" b="1" dirty="0">
                <a:solidFill>
                  <a:srgbClr val="FF0000"/>
                </a:solidFill>
              </a:rPr>
              <a:t> V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rgbClr val="FF0000"/>
                </a:solidFill>
              </a:rPr>
              <a:t>Dr. Sampath A K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Examiners: </a:t>
            </a:r>
            <a:r>
              <a:rPr lang="en-US" sz="1800" b="1" dirty="0">
                <a:solidFill>
                  <a:srgbClr val="FF0000"/>
                </a:solidFill>
              </a:rPr>
              <a:t>Anu Joseph , Riya </a:t>
            </a:r>
            <a:r>
              <a:rPr lang="en-US" sz="1800" b="1" dirty="0" err="1">
                <a:solidFill>
                  <a:srgbClr val="FF0000"/>
                </a:solidFill>
              </a:rPr>
              <a:t>Sanjeesh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endParaRPr sz="1800" b="1" i="0" u="none" strike="noStrike" cap="none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056004"/>
            <a:ext cx="10668000" cy="4986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Approach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Existing Methods &amp; Drawbacks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Proposed Method’s &amp; Feasible Study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Diagram’s</a:t>
            </a:r>
          </a:p>
          <a:p>
            <a:pPr marL="495300" lvl="0" indent="-342900" algn="just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System Module’s</a:t>
            </a: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 err="1">
                <a:latin typeface="Cambria" panose="02040503050406030204" pitchFamily="18" charset="0"/>
                <a:ea typeface="Cambria" panose="02040503050406030204" pitchFamily="18" charset="0"/>
              </a:rPr>
              <a:t>Github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Link</a:t>
            </a: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PSCS_46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95300" indent="-342900" algn="just">
              <a:spcBef>
                <a:spcPts val="0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  <a:r>
              <a:rPr lang="en-US" sz="2000" dirty="0"/>
              <a:t>Ministry of AYUSH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:Software Project.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 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Medical education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depends on high-quality textbooks to ensure accurate learning.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In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ASU systems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(Ayurveda, Unani, Siddha), many books claim to follow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CCIM/NCISM guidelines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but the quality is inconsistent.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Some books are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well-researched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and align with the curriculum.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Others are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substandard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poorly structured, and written with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vested interests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Low-quality resources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misguide students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causing knowledge gaps and lowering competency levels.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NCISM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developed an official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assessment scale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to evaluate and recommend textbooks.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Current evaluation process is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manual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, time-consuming, and </a:t>
            </a: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not easily accessible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 to all stakeholders.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F010C-1751-3550-C95C-25FFFA58E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3E43EE-7AC2-573D-7426-522E9CC6D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Develop 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web-based application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assess the quality of textbooks, reference books, and e-books using NCISM’s assessment scale.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Enable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distributed reviewers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across the country to evaluate books online.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Automate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review collation and summarization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for faster decision-making.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Provide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transparent, publicly accessible results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guide students, teachers, and regulatory bodies.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92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17A3B-3CCA-68FE-5886-621084C33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Approach: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51CB039-4E53-600C-7484-7FC95CD8DF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211361"/>
            <a:ext cx="11379200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First platform aligned with NCISM’s official assessment scale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Digitizes and standardizes the evaluation of AYUSH textbooks, reference books, and e-books.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Distributed multi-reviewer evaluation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Assigns three reviewers per book, ensures balanced scoring, and reduces bias through automated collation.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Role-based dashboards for all stakeholders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Authors submit books, reviewers evaluate, and administrators oversee &amp; publish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Transparent public repository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Students, teachers, and regulators can easily access approved/recommended textbook lists.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Roadmap from web application to nationwide deployment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– Initial web platform (Node.js + MongoDB), followed by cloud hosting (AWS/Heroku) for scalability and accessibility.</a:t>
            </a:r>
          </a:p>
        </p:txBody>
      </p:sp>
    </p:spTree>
    <p:extLst>
      <p:ext uri="{BB962C8B-B14F-4D97-AF65-F5344CB8AC3E}">
        <p14:creationId xmlns:p14="http://schemas.microsoft.com/office/powerpoint/2010/main" val="15438894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Existing Methods &amp; Drawbacks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680825" y="9525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r>
              <a:rPr lang="en-US" b="1" dirty="0"/>
              <a:t>Existing Methods: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Manual review committees formed under NCISM.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Rubric-based evaluation frameworks (e.g., Sharma et al., 2022).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Peer-review models used in medical curriculum evaluation.</a:t>
            </a:r>
          </a:p>
          <a:p>
            <a:r>
              <a:rPr lang="en-US" b="1" dirty="0"/>
              <a:t>Drawbacks: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Manual &amp; slow</a:t>
            </a:r>
            <a:r>
              <a:rPr lang="en-US" dirty="0"/>
              <a:t> – difficult to scale nationwide.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Geographically constrained</a:t>
            </a:r>
            <a:r>
              <a:rPr lang="en-US" dirty="0"/>
              <a:t> – experts are dispersed across India.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Bias &amp; inconsistency</a:t>
            </a:r>
            <a:r>
              <a:rPr lang="en-US" dirty="0"/>
              <a:t> – lack of uniform digital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Limited accessibility</a:t>
            </a:r>
            <a:r>
              <a:rPr lang="en-US" dirty="0"/>
              <a:t> – students and institutions cannot easily view results.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NCISM’s official review panels (2023)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Strength: Authoritative framework for ASU textbook assessment.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Weakness: Entirely manual, non-transparent to public, delays in publication of approved book lists.</a:t>
            </a:r>
          </a:p>
          <a:p>
            <a:pPr marL="342900" lvl="0" indent="-1905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83DF2-CB6F-3692-8374-4B96E1CD2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9587D2-3214-5CC3-9D0A-ECAD379F3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114721"/>
            <a:ext cx="10668000" cy="495300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Proposed Method: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Web-based evaluation platform</a:t>
            </a:r>
            <a:r>
              <a:rPr lang="en-IN" dirty="0"/>
              <a:t> (Frontend: HTML/CSS/JS, Backend: Node.js + Express.js, Database: MongoDB).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Multi-reviewer model</a:t>
            </a:r>
            <a:r>
              <a:rPr lang="en-IN" dirty="0"/>
              <a:t> → 3 reviewers per book, automated score collation.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Role-based dashboards</a:t>
            </a:r>
            <a:r>
              <a:rPr lang="en-IN" dirty="0"/>
              <a:t> → Authors, Reviewers, Administrators.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Central repository</a:t>
            </a:r>
            <a:r>
              <a:rPr lang="en-IN" dirty="0"/>
              <a:t> → Students and teachers can access approved/rejected book lists.</a:t>
            </a:r>
          </a:p>
          <a:p>
            <a:r>
              <a:rPr lang="en-IN" b="1" dirty="0"/>
              <a:t>Feasibility: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Technology:</a:t>
            </a:r>
            <a:r>
              <a:rPr lang="en-IN" dirty="0"/>
              <a:t> Open-source MERN stack, scalable, cloud-hosted.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Cost:</a:t>
            </a:r>
            <a:r>
              <a:rPr lang="en-IN" dirty="0"/>
              <a:t> Low – only basic hosting and cloud services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Resources:</a:t>
            </a:r>
            <a:r>
              <a:rPr lang="en-IN" dirty="0"/>
              <a:t> Student team + NCISM assessment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Impact:</a:t>
            </a:r>
            <a:r>
              <a:rPr lang="en-IN" dirty="0"/>
              <a:t> Faster, transparent, bias-free book evaluations nationwide.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878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40C30-9936-7C5A-C45A-C9199C58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6CC5C7-58D2-FA81-9FCB-B5812B3C5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283" y="1193207"/>
            <a:ext cx="10176261" cy="477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60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CAB80-5DAD-CC3C-AAC2-D80FFD6BC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System Modules: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8FBE6-2BD0-9D62-C3C0-116DEF05B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L="76200" indent="0">
              <a:buNone/>
            </a:pPr>
            <a:r>
              <a:rPr lang="en-US" b="1" dirty="0"/>
              <a:t>Modules:</a:t>
            </a:r>
            <a:endParaRPr lang="en-US" dirty="0"/>
          </a:p>
          <a:p>
            <a:pPr marL="76200" indent="0">
              <a:buNone/>
            </a:pPr>
            <a:r>
              <a:rPr lang="en-US" b="1" dirty="0"/>
              <a:t>Author Module: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Upload textbooks,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View review status.</a:t>
            </a:r>
          </a:p>
          <a:p>
            <a:pPr marL="76200" indent="0">
              <a:buNone/>
            </a:pPr>
            <a:r>
              <a:rPr lang="en-US" b="1" dirty="0"/>
              <a:t>Reviewer Module: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using NCISM rubric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Submit scores.</a:t>
            </a:r>
          </a:p>
          <a:p>
            <a:pPr marL="76200" indent="0">
              <a:buNone/>
            </a:pPr>
            <a:r>
              <a:rPr lang="en-US" b="1" dirty="0"/>
              <a:t>Admin Module: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Assign reviewers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Manage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Publish results.</a:t>
            </a:r>
          </a:p>
          <a:p>
            <a:pPr marL="76200" indent="0">
              <a:buNone/>
            </a:pPr>
            <a:r>
              <a:rPr lang="en-US" b="1" dirty="0"/>
              <a:t>Evaluation Engine: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Automates collation of reviewer scores &amp; generates summaries.</a:t>
            </a:r>
          </a:p>
          <a:p>
            <a:pPr marL="76200" indent="0">
              <a:buNone/>
            </a:pPr>
            <a:r>
              <a:rPr lang="en-US" b="1" dirty="0"/>
              <a:t>Repository Module:</a:t>
            </a:r>
            <a:r>
              <a:rPr lang="en-US" dirty="0"/>
              <a:t> Public access to evaluated results.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9912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200" b="1" dirty="0"/>
              <a:t>Week 1–2:</a:t>
            </a:r>
            <a:r>
              <a:rPr lang="en-US" sz="2200" dirty="0"/>
              <a:t> Requirement gathering, template design, and backend architecture planning.</a:t>
            </a:r>
          </a:p>
          <a:p>
            <a:endParaRPr lang="en-US" sz="2200" dirty="0"/>
          </a:p>
          <a:p>
            <a:r>
              <a:rPr lang="en-US" sz="2200" b="1" dirty="0"/>
              <a:t>Week 3–4:</a:t>
            </a:r>
            <a:r>
              <a:rPr lang="en-US" sz="2200" dirty="0"/>
              <a:t> Backend API development with user authentication and role management.</a:t>
            </a:r>
          </a:p>
          <a:p>
            <a:endParaRPr lang="en-US" sz="2200" dirty="0"/>
          </a:p>
          <a:p>
            <a:r>
              <a:rPr lang="en-US" sz="2200" b="1" dirty="0"/>
              <a:t>Week 5–6:</a:t>
            </a:r>
            <a:r>
              <a:rPr lang="en-US" sz="2200" dirty="0"/>
              <a:t> Frontend integration with backend APIs.</a:t>
            </a:r>
          </a:p>
          <a:p>
            <a:endParaRPr lang="en-US" sz="2200" dirty="0"/>
          </a:p>
          <a:p>
            <a:r>
              <a:rPr lang="en-US" sz="2200" b="1" dirty="0"/>
              <a:t>Week 7:</a:t>
            </a:r>
            <a:r>
              <a:rPr lang="en-US" sz="2200" dirty="0"/>
              <a:t> End-to-end testing and bug fixes.</a:t>
            </a:r>
          </a:p>
          <a:p>
            <a:endParaRPr lang="en-US" sz="2200" dirty="0"/>
          </a:p>
          <a:p>
            <a:r>
              <a:rPr lang="en-US" sz="2200" b="1" dirty="0"/>
              <a:t>Week 8:</a:t>
            </a:r>
            <a:r>
              <a:rPr lang="en-US" sz="2200" dirty="0"/>
              <a:t> Final deployment, review, and presentation preparation.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B140-7A1E-9B25-467E-6A39F1AE5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19" y="119062"/>
            <a:ext cx="7315200" cy="566700"/>
          </a:xfrm>
        </p:spPr>
        <p:txBody>
          <a:bodyPr/>
          <a:lstStyle/>
          <a:p>
            <a:r>
              <a:rPr lang="en-US" dirty="0"/>
              <a:t>Gantt Chart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BBC3D6F-D89C-4528-BDD0-D08A34222C31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5556" r="5556"/>
          <a:stretch>
            <a:fillRect/>
          </a:stretch>
        </p:blipFill>
        <p:spPr>
          <a:xfrm>
            <a:off x="1635571" y="1393940"/>
            <a:ext cx="8451109" cy="475374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5245C0-7BDB-484F-140D-9A250AB9B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2319" y="1088212"/>
            <a:ext cx="7315200" cy="804900"/>
          </a:xfrm>
        </p:spPr>
        <p:txBody>
          <a:bodyPr/>
          <a:lstStyle/>
          <a:p>
            <a:r>
              <a:rPr lang="en-US" dirty="0"/>
              <a:t>The below Picture Refers to the Gantt chart of out Project Timeline.</a:t>
            </a:r>
          </a:p>
        </p:txBody>
      </p:sp>
    </p:spTree>
    <p:extLst>
      <p:ext uri="{BB962C8B-B14F-4D97-AF65-F5344CB8AC3E}">
        <p14:creationId xmlns:p14="http://schemas.microsoft.com/office/powerpoint/2010/main" val="2071467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None/>
            </a:pPr>
            <a:r>
              <a:rPr lang="en-US" sz="2200" dirty="0">
                <a:latin typeface="Cambria" panose="02040503050406030204" pitchFamily="18" charset="0"/>
                <a:ea typeface="Cambria" panose="02040503050406030204" pitchFamily="18" charset="0"/>
              </a:rPr>
              <a:t>Link: https://github.com/Nischaynraj1810/VGP_Vaidya_Granth_Parak-AYUSH.git</a:t>
            </a: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561473" y="518388"/>
            <a:ext cx="12127832" cy="5323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240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lnSpc>
                <a:spcPct val="150000"/>
              </a:lnSpc>
              <a:buNone/>
            </a:pPr>
            <a:r>
              <a:rPr lang="en-US" sz="1800" dirty="0"/>
              <a:t>[1] NCISM, “Assessment Scale for ASU Textbooks,” Ministry of AYUSH, 2023. [Online]. 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US" sz="1800" dirty="0"/>
              <a:t>Available: </a:t>
            </a:r>
            <a:r>
              <a:rPr lang="en-US" sz="1800" dirty="0">
                <a:hlinkClick r:id="rId3"/>
              </a:rPr>
              <a:t>https://ncismindia.org/</a:t>
            </a:r>
            <a:endParaRPr lang="en-US" sz="1800" dirty="0"/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[2] R. Sharma, A. Singh, and P. Mehta, “Rubric-based Evaluation for Ayurveda Medical Literature,” </a:t>
            </a:r>
            <a:r>
              <a:rPr lang="en-IN" sz="1800" i="1" dirty="0"/>
              <a:t>Journal of Ayurveda &amp; Integrative Medicine</a:t>
            </a:r>
            <a:r>
              <a:rPr lang="en-IN" sz="1800" dirty="0"/>
              <a:t>, vol. 13, no. 2, pp. 101–109, 2022. [Online]. 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Available: </a:t>
            </a:r>
            <a:r>
              <a:rPr lang="en-IN" sz="1800" dirty="0">
                <a:hlinkClick r:id="rId4"/>
              </a:rPr>
              <a:t>https://doi.org/10.1016/j.jaim.2022.04.003</a:t>
            </a:r>
            <a:endParaRPr lang="en-IN" sz="1800" dirty="0"/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[3] A. Garg, R. Kumar, and S. Bansal, “Peer-Review Model for Medical Curriculum Materials,” </a:t>
            </a:r>
            <a:r>
              <a:rPr lang="en-IN" sz="1800" i="1" dirty="0"/>
              <a:t>Education and Information Technologies</a:t>
            </a:r>
            <a:r>
              <a:rPr lang="en-IN" sz="1800" dirty="0"/>
              <a:t>, vol. 25, pp. 2761–2775, 2020. [Online]. </a:t>
            </a:r>
          </a:p>
          <a:p>
            <a:pPr marL="76200" indent="0">
              <a:lnSpc>
                <a:spcPct val="150000"/>
              </a:lnSpc>
              <a:buNone/>
            </a:pPr>
            <a:r>
              <a:rPr lang="en-IN" sz="1800" dirty="0"/>
              <a:t>Available: </a:t>
            </a:r>
            <a:r>
              <a:rPr lang="en-IN" sz="1800" dirty="0">
                <a:hlinkClick r:id="rId5"/>
              </a:rPr>
              <a:t>https://doi.org/10.1007/s10639-019-10066-0</a:t>
            </a:r>
            <a:endParaRPr lang="en-IN" sz="1800" dirty="0"/>
          </a:p>
          <a:p>
            <a:pPr marL="76200" indent="0">
              <a:lnSpc>
                <a:spcPct val="150000"/>
              </a:lnSpc>
              <a:buNone/>
            </a:pPr>
            <a:r>
              <a:rPr lang="en-US" sz="1800" dirty="0"/>
              <a:t>[4] X. Li, Y. Zhang, and L. Chen, “Web-Based Evaluation System for Traditional Chinese Medicine Textbooks,” </a:t>
            </a:r>
            <a:r>
              <a:rPr lang="en-US" sz="1800" i="1" dirty="0"/>
              <a:t>Evaluation and Program Planning</a:t>
            </a:r>
            <a:r>
              <a:rPr lang="en-US" sz="1800" dirty="0"/>
              <a:t>, vol. 85, pp. 101–114, 2021. [Online]. Available: </a:t>
            </a:r>
            <a:r>
              <a:rPr lang="en-US" sz="1800" dirty="0">
                <a:hlinkClick r:id="rId6"/>
              </a:rPr>
              <a:t>https://doi.org/10.1016/j.evalprogplan.2020.101914</a:t>
            </a:r>
            <a:endParaRPr lang="en-US" sz="1800" dirty="0"/>
          </a:p>
          <a:p>
            <a:pPr marL="76200" indent="0">
              <a:lnSpc>
                <a:spcPct val="150000"/>
              </a:lnSpc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lnSpc>
                <a:spcPct val="150000"/>
              </a:lnSpc>
              <a:spcBef>
                <a:spcPts val="0"/>
              </a:spcBef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FD87-C237-FF41-5B9C-28AA1C24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74638"/>
            <a:ext cx="10668000" cy="487500"/>
          </a:xfrm>
        </p:spPr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Reference’s-Cont’d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AE9F3-D629-2006-C78C-11D04940F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474" y="952500"/>
            <a:ext cx="11742822" cy="4953000"/>
          </a:xfrm>
        </p:spPr>
        <p:txBody>
          <a:bodyPr>
            <a:noAutofit/>
          </a:bodyPr>
          <a:lstStyle/>
          <a:p>
            <a:pPr marL="76200" indent="0">
              <a:buNone/>
            </a:pPr>
            <a:r>
              <a:rPr lang="en-IN" sz="1800" dirty="0"/>
              <a:t>[5] M. </a:t>
            </a:r>
            <a:r>
              <a:rPr lang="en-IN" sz="1800" dirty="0" err="1"/>
              <a:t>Tavakoli</a:t>
            </a:r>
            <a:r>
              <a:rPr lang="en-IN" sz="1800" dirty="0"/>
              <a:t>, M. Elias, G. </a:t>
            </a:r>
            <a:r>
              <a:rPr lang="en-IN" sz="1800" dirty="0" err="1"/>
              <a:t>Kismihók</a:t>
            </a:r>
            <a:r>
              <a:rPr lang="en-IN" sz="1800" dirty="0"/>
              <a:t>, and S. Auer, “Quality Prediction of Open Educational Resources: A Metadata-Based Approach,” in </a:t>
            </a:r>
            <a:r>
              <a:rPr lang="en-IN" sz="1800" i="1" dirty="0"/>
              <a:t>Proc. IEEE Int. Conf. on Advanced Learning Technologies (ICALT)</a:t>
            </a:r>
            <a:r>
              <a:rPr lang="en-IN" sz="1800" dirty="0"/>
              <a:t>, pp. 298–302, 2020. [Online].</a:t>
            </a:r>
          </a:p>
          <a:p>
            <a:pPr marL="76200" indent="0">
              <a:buNone/>
            </a:pPr>
            <a:r>
              <a:rPr lang="en-IN" sz="1800" dirty="0"/>
              <a:t> Available: </a:t>
            </a:r>
            <a:r>
              <a:rPr lang="en-IN" sz="1800" dirty="0">
                <a:hlinkClick r:id="rId2"/>
              </a:rPr>
              <a:t>https://doi.org/10.1109/ICALT49669.2020.00097</a:t>
            </a:r>
            <a:endParaRPr lang="en-IN" sz="1800" dirty="0"/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[6] C. Galindo-Durán and C. Medina-Ramírez, “Integration of Open Educational Resources Using Semantic Platform,” </a:t>
            </a:r>
            <a:r>
              <a:rPr lang="en-IN" sz="1800" i="1" dirty="0"/>
              <a:t>IEEE Access</a:t>
            </a:r>
            <a:r>
              <a:rPr lang="en-IN" sz="1800" dirty="0"/>
              <a:t>, vol. 9, pp. 148721–148733, 2021. [Online]. Available: </a:t>
            </a:r>
            <a:r>
              <a:rPr lang="en-IN" sz="1800" dirty="0">
                <a:hlinkClick r:id="rId3"/>
              </a:rPr>
              <a:t>https://doi.org/10.1109/ACCESS.2021.3124419</a:t>
            </a:r>
            <a:endParaRPr lang="en-IN" sz="1800" dirty="0"/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[7] K. A. </a:t>
            </a:r>
            <a:r>
              <a:rPr lang="en-IN" sz="1800" dirty="0" err="1"/>
              <a:t>Kroeze</a:t>
            </a:r>
            <a:r>
              <a:rPr lang="en-IN" sz="1800" dirty="0"/>
              <a:t>, S. M. van den Berg, B. P. </a:t>
            </a:r>
            <a:r>
              <a:rPr lang="en-IN" sz="1800" dirty="0" err="1"/>
              <a:t>Veldkamp</a:t>
            </a:r>
            <a:r>
              <a:rPr lang="en-IN" sz="1800" dirty="0"/>
              <a:t>, and T. de Jong, “Automated Assessment of and Feedback on Concept Maps during Inquiry Learning,” </a:t>
            </a:r>
            <a:r>
              <a:rPr lang="en-IN" sz="1800" i="1" dirty="0"/>
              <a:t>IEEE Transactions on Learning Technologies</a:t>
            </a:r>
            <a:r>
              <a:rPr lang="en-IN" sz="1800" dirty="0"/>
              <a:t>, vol. 14, no. 3, pp. 285–298, 2021. [Online]. Available: </a:t>
            </a:r>
            <a:r>
              <a:rPr lang="en-IN" sz="1800" dirty="0">
                <a:hlinkClick r:id="rId4"/>
              </a:rPr>
              <a:t>https://doi.org/10.1109/TLT.2021.3059643</a:t>
            </a:r>
            <a:endParaRPr lang="en-IN" sz="1800" dirty="0"/>
          </a:p>
          <a:p>
            <a:pPr marL="76200" indent="0">
              <a:buNone/>
            </a:pPr>
            <a:endParaRPr lang="en-IN" sz="1800" dirty="0"/>
          </a:p>
          <a:p>
            <a:pPr marL="76200" indent="0">
              <a:buNone/>
            </a:pPr>
            <a:r>
              <a:rPr lang="en-IN" sz="1800" dirty="0"/>
              <a:t>[8] R. </a:t>
            </a:r>
            <a:r>
              <a:rPr lang="en-IN" sz="1800" dirty="0" err="1"/>
              <a:t>Conejo</a:t>
            </a:r>
            <a:r>
              <a:rPr lang="en-IN" sz="1800" dirty="0"/>
              <a:t>, J. Guzmán, and E. </a:t>
            </a:r>
            <a:r>
              <a:rPr lang="en-IN" sz="1800" dirty="0" err="1"/>
              <a:t>Millán</a:t>
            </a:r>
            <a:r>
              <a:rPr lang="en-IN" sz="1800" dirty="0"/>
              <a:t>, “Automated Assessment of Complex Programming Tasks Using SIETTE,” </a:t>
            </a:r>
            <a:r>
              <a:rPr lang="en-IN" sz="1800" i="1" dirty="0"/>
              <a:t>IEEE Transactions on Learning Technologies</a:t>
            </a:r>
            <a:r>
              <a:rPr lang="en-IN" sz="1800" dirty="0"/>
              <a:t>, vol. 12, no. 4, pp. 481–493, 2019. [Online]. Available: </a:t>
            </a:r>
            <a:r>
              <a:rPr lang="en-IN" sz="1800" dirty="0">
                <a:hlinkClick r:id="rId5"/>
              </a:rPr>
              <a:t>https://doi.org/10.1109/TLT.2018.2873727</a:t>
            </a:r>
            <a:endParaRPr lang="en-IN" sz="1800" dirty="0"/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437801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1302</Words>
  <Application>Microsoft Office PowerPoint</Application>
  <PresentationFormat>Widescreen</PresentationFormat>
  <Paragraphs>148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Bookman Old Style</vt:lpstr>
      <vt:lpstr>Cambria</vt:lpstr>
      <vt:lpstr>Sitka Small Semibold</vt:lpstr>
      <vt:lpstr>Verdana</vt:lpstr>
      <vt:lpstr>Wingdings</vt:lpstr>
      <vt:lpstr>Bioinformatics</vt:lpstr>
      <vt:lpstr>VGP-AYUSH – Vaidya Granth Parakh Expert Review of AYUSH Medical Textbooks.</vt:lpstr>
      <vt:lpstr>Content</vt:lpstr>
      <vt:lpstr>Problem Statement Number: PSCS_46 </vt:lpstr>
      <vt:lpstr>Objectives:</vt:lpstr>
      <vt:lpstr>Approach:</vt:lpstr>
      <vt:lpstr>Existing Methods &amp; Drawbacks</vt:lpstr>
      <vt:lpstr>Proposed Method &amp; Feasibility Study</vt:lpstr>
      <vt:lpstr>Architecture Diagram:</vt:lpstr>
      <vt:lpstr>System Modules:</vt:lpstr>
      <vt:lpstr>Timeline of the Project (Gantt Chart)</vt:lpstr>
      <vt:lpstr>Gantt Chart</vt:lpstr>
      <vt:lpstr>Github Link</vt:lpstr>
      <vt:lpstr>References (IEEE Paper format)</vt:lpstr>
      <vt:lpstr>Reference’s-Cont’d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VGP-AYUSH – Vaidya Granth Parakh Expert Review of AYUSH Medical Textbooks.</dc:title>
  <dc:creator>Bhavana</dc:creator>
  <cp:lastModifiedBy>NISCHAY N RAJ</cp:lastModifiedBy>
  <cp:revision>6</cp:revision>
  <dcterms:modified xsi:type="dcterms:W3CDTF">2025-12-03T07:10:44Z</dcterms:modified>
</cp:coreProperties>
</file>